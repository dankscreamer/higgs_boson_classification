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7fa9d3-8f88-9299-b90c-34a2f44197b2}">
          <p14:sldIdLst>
            <p14:sldId id="256"/>
          </p14:sldIdLst>
        </p14:section>
        <p14:section name="Model application" id="{298c927e-a2be-0f60-65ce-afa918ccf6f9}">
          <p14:sldIdLst>
            <p14:sldId id="257"/>
            <p14:sldId id="258"/>
          </p14:sldIdLst>
        </p14:section>
        <p14:section name="Calibration &amp; compute" id="{24c85cc1-c157-3831-6224-a910b5b6c1d4}">
          <p14:sldIdLst>
            <p14:sldId id="259"/>
            <p14:sldId id="260"/>
          </p14:sldIdLst>
        </p14:section>
        <p14:section name="Backup" id="{b6f82b4f-aea9-8f99-7d19-25a9f8489aca}">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333"/>
                </a:solidFill>
                <a:latin typeface="+mn-lt"/>
              </a:defRPr>
            </a:pPr>
            <a:r>
              <a:rPr sz="1200" b="0" i="0" u="none" strike="noStrike">
                <a:solidFill>
                  <a:srgbClr val="1B2333"/>
                </a:solidFill>
                <a:latin typeface="+mn-lt"/>
              </a:rPr>
              <a:t>Test ROC AUC, mean of 5 seeds (axis starts at 0.5 = random guessing)</a:t>
            </a:r>
          </a:p>
        </c:rich>
      </c:tx>
      <c:layout/>
      <c:overlay val="0"/>
    </c:title>
    <c:autoTitleDeleted val="0"/>
    <c:plotArea>
      <c:layout/>
      <c:barChart>
        <c:barDir val="bar"/>
        <c:grouping val="clustered"/>
        <c:varyColors val="0"/>
        <c:ser>
          <c:idx val="0"/>
          <c:order val="0"/>
          <c:tx>
            <c:strRef>
              <c:f>Sheet1!$B$1</c:f>
              <c:strCache>
                <c:ptCount val="1"/>
                <c:pt idx="0">
                  <c:v>Logistic regression</c:v>
                </c:pt>
              </c:strCache>
            </c:strRef>
          </c:tx>
          <c:spPr>
            <a:solidFill>
              <a:srgbClr val="2A78D6"/>
            </a:solidFill>
            <a:effectLst/>
          </c:spPr>
          <c:invertIfNegative val="0"/>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Sheet1!$A$2:$A$6</c:f>
              <c:multiLvlStrCache>
                <c:ptCount val="5"/>
                <c:lvl>
                  <c:pt idx="0">
                    <c:v>low · 21 raw</c:v>
                  </c:pt>
                  <c:pt idx="1">
                    <c:v>geo · 40 geometric (ours)</c:v>
                  </c:pt>
                  <c:pt idx="2">
                    <c:v>high · 7 expert masses</c:v>
                  </c:pt>
                  <c:pt idx="3">
                    <c:v>all · paper's 28</c:v>
                  </c:pt>
                  <c:pt idx="4">
                    <c:v>geo + high · 47</c:v>
                  </c:pt>
                </c:lvl>
              </c:multiLvlStrCache>
            </c:multiLvlStrRef>
          </c:cat>
          <c:val>
            <c:numRef>
              <c:f>Sheet1!$B$2:$B$6</c:f>
              <c:numCache>
                <c:formatCode>General</c:formatCode>
                <c:ptCount val="5"/>
                <c:pt idx="0">
                  <c:v>0.59572169171804</c:v>
                </c:pt>
                <c:pt idx="1">
                  <c:v>0.629790860160851</c:v>
                </c:pt>
                <c:pt idx="2">
                  <c:v>0.6450454030161309</c:v>
                </c:pt>
                <c:pt idx="3">
                  <c:v>0.6842344876473012</c:v>
                </c:pt>
                <c:pt idx="4">
                  <c:v>0.69182222044574</c:v>
                </c:pt>
              </c:numCache>
            </c:numRef>
          </c:val>
        </c:ser>
        <c:ser>
          <c:idx val="1"/>
          <c:order val="1"/>
          <c:tx>
            <c:strRef>
              <c:f>Sheet1!$C$1</c:f>
              <c:strCache>
                <c:ptCount val="1"/>
                <c:pt idx="0">
                  <c:v>XGBoost (tuned)</c:v>
                </c:pt>
              </c:strCache>
            </c:strRef>
          </c:tx>
          <c:spPr>
            <a:solidFill>
              <a:srgbClr val="EB6834"/>
            </a:solidFill>
            <a:effectLst/>
          </c:spPr>
          <c:invertIfNegative val="0"/>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cat>
            <c:multiLvlStrRef>
              <c:f>Sheet1!$A$2:$A$6</c:f>
              <c:multiLvlStrCache>
                <c:ptCount val="5"/>
                <c:lvl>
                  <c:pt idx="0">
                    <c:v>low · 21 raw</c:v>
                  </c:pt>
                  <c:pt idx="1">
                    <c:v>geo · 40 geometric (ours)</c:v>
                  </c:pt>
                  <c:pt idx="2">
                    <c:v>high · 7 expert masses</c:v>
                  </c:pt>
                  <c:pt idx="3">
                    <c:v>all · paper's 28</c:v>
                  </c:pt>
                  <c:pt idx="4">
                    <c:v>geo + high · 47</c:v>
                  </c:pt>
                </c:lvl>
              </c:multiLvlStrCache>
            </c:multiLvlStrRef>
          </c:cat>
          <c:val>
            <c:numRef>
              <c:f>Sheet1!$C$2:$C$6</c:f>
              <c:numCache>
                <c:formatCode>General</c:formatCode>
                <c:ptCount val="5"/>
                <c:pt idx="0">
                  <c:v>0.7375787857991866</c:v>
                </c:pt>
                <c:pt idx="1">
                  <c:v>0.8011088090422994</c:v>
                </c:pt>
                <c:pt idx="2">
                  <c:v>0.7871800127760091</c:v>
                </c:pt>
                <c:pt idx="3">
                  <c:v>0.8234524772246165</c:v>
                </c:pt>
                <c:pt idx="4">
                  <c:v>0.8381496353821507</c:v>
                </c:pt>
              </c:numCache>
            </c:numRef>
          </c:val>
        </c:ser>
        <c:dLbls>
          <c:numFmt formatCode="0.000" sourceLinked="0"/>
          <c:txPr>
            <a:bodyPr/>
            <a:lstStyle/>
            <a:p>
              <a:pPr>
                <a:defRPr b="0" i="0" strike="noStrike" sz="1100" u="none">
                  <a:solidFill>
                    <a:srgbClr val="1B23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b"/>
        <c:majorGridlines>
          <c:spPr>
            <a:ln w="9525" cap="flat">
              <a:solidFill>
                <a:srgbClr val="D9DEE6"/>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1B2333"/>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333"/>
                </a:solidFill>
                <a:latin typeface="+mn-lt"/>
              </a:defRPr>
            </a:pPr>
            <a:r>
              <a:rPr sz="1200" b="0" i="0" u="none" strike="noStrike">
                <a:solidFill>
                  <a:srgbClr val="1B2333"/>
                </a:solidFill>
                <a:latin typeface="+mn-lt"/>
              </a:rPr>
              <a:t>Test AUC gain (A − B), mean of 5 seeds</a:t>
            </a:r>
          </a:p>
        </c:rich>
      </c:tx>
      <c:layout/>
      <c:overlay val="0"/>
    </c:title>
    <c:autoTitleDeleted val="0"/>
    <c:plotArea>
      <c:layout/>
      <c:barChart>
        <c:barDir val="bar"/>
        <c:grouping val="clustered"/>
        <c:varyColors val="0"/>
        <c:ser>
          <c:idx val="0"/>
          <c:order val="0"/>
          <c:tx>
            <c:strRef>
              <c:f>Sheet1!$B$1</c:f>
              <c:strCache>
                <c:ptCount val="1"/>
                <c:pt idx="0">
                  <c:v>AUC gain</c:v>
                </c:pt>
              </c:strCache>
            </c:strRef>
          </c:tx>
          <c:spPr>
            <a:solidFill>
              <a:srgbClr val="EB6834"/>
            </a:solidFill>
            <a:effectLst/>
          </c:spPr>
          <c:invertIfNegative val="0"/>
          <c:dLbls>
            <c:numFmt formatCode="+0.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2A78D6"/>
              </a:solidFill>
              <a:effectLst/>
            </c:spPr>
          </c:dPt>
          <c:dPt>
            <c:idx val="3"/>
            <c:invertIfNegative val="0"/>
            <c:bubble3D val="0"/>
            <c:spPr>
              <a:solidFill>
                <a:srgbClr val="EB6834"/>
              </a:solidFill>
              <a:effectLst/>
            </c:spPr>
          </c:dPt>
          <c:dPt>
            <c:idx val="4"/>
            <c:invertIfNegative val="0"/>
            <c:bubble3D val="0"/>
            <c:spPr>
              <a:solidFill>
                <a:srgbClr val="EB6834"/>
              </a:solidFill>
              <a:effectLst/>
            </c:spPr>
          </c:dPt>
          <c:cat>
            <c:multiLvlStrRef>
              <c:f>Sheet1!$A$2:$A$6</c:f>
              <c:multiLvlStrCache>
                <c:ptCount val="5"/>
                <c:lvl>
                  <c:pt idx="0">
                    <c:v>Geometric vs raw (XGB)</c:v>
                  </c:pt>
                  <c:pt idx="1">
                    <c:v>Raw + masses vs masses (XGB)</c:v>
                  </c:pt>
                  <c:pt idx="2">
                    <c:v>Geometric vs raw (LogReg)</c:v>
                  </c:pt>
                  <c:pt idx="3">
                    <c:v>Geometry + masses vs paper set (XGB)</c:v>
                  </c:pt>
                  <c:pt idx="4">
                    <c:v>Geometric vs expert masses (XGB)</c:v>
                  </c:pt>
                </c:lvl>
              </c:multiLvlStrCache>
            </c:multiLvlStrRef>
          </c:cat>
          <c:val>
            <c:numRef>
              <c:f>Sheet1!$B$2:$B$6</c:f>
              <c:numCache>
                <c:formatCode>General</c:formatCode>
                <c:ptCount val="5"/>
                <c:pt idx="0">
                  <c:v>0.0635</c:v>
                </c:pt>
                <c:pt idx="1">
                  <c:v>0.0363</c:v>
                </c:pt>
                <c:pt idx="2">
                  <c:v>0.0341</c:v>
                </c:pt>
                <c:pt idx="3">
                  <c:v>0.0147</c:v>
                </c:pt>
                <c:pt idx="4">
                  <c:v>0.0139</c:v>
                </c:pt>
              </c:numCache>
            </c:numRef>
          </c:val>
        </c:ser>
        <c:dLbls>
          <c:numFmt formatCode="+0.000"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08"/>
          <c:min val="0"/>
        </c:scaling>
        <c:delete val="0"/>
        <c:axPos val="b"/>
        <c:majorGridlines>
          <c:spPr>
            <a:ln w="9525" cap="flat">
              <a:solidFill>
                <a:srgbClr val="D9DE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1B2333"/>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333"/>
                </a:solidFill>
                <a:latin typeface="+mn-lt"/>
              </a:defRPr>
            </a:pPr>
            <a:r>
              <a:rPr sz="1200" b="0" i="0" u="none" strike="noStrike">
                <a:solidFill>
                  <a:srgbClr val="1B2333"/>
                </a:solidFill>
                <a:latin typeface="+mn-lt"/>
              </a:rPr>
              <a:t>Reliability on the 7 expert masses (seed 0, 500k test events, before correction)</a:t>
            </a:r>
          </a:p>
        </c:rich>
      </c:tx>
      <c:layout/>
      <c:overlay val="0"/>
    </c:title>
    <c:autoTitleDeleted val="0"/>
    <c:plotArea>
      <c:layout/>
      <c:lineChart>
        <c:varyColors val="0"/>
        <c:ser>
          <c:idx val="0"/>
          <c:order val="0"/>
          <c:tx>
            <c:strRef>
              <c:f>Sheet1!$B$1</c:f>
              <c:strCache>
                <c:ptCount val="1"/>
                <c:pt idx="0">
                  <c:v>Perfect calibration</c:v>
                </c:pt>
              </c:strCache>
            </c:strRef>
          </c:tx>
          <c:spPr>
            <a:solidFill>
              <a:srgbClr val="8A94A6"/>
            </a:solidFill>
            <a:ln w="38100" cap="flat">
              <a:solidFill>
                <a:srgbClr val="8A94A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8A94A6"/>
              </a:solidFill>
              <a:ln w="9525" cap="flat">
                <a:solidFill>
                  <a:srgbClr val="8A94A6"/>
                </a:solidFill>
                <a:prstDash val="solid"/>
                <a:round/>
              </a:ln>
              <a:effectLst/>
            </c:spPr>
          </c:marker>
          <c:cat>
            <c:multiLvlStrRef>
              <c:f>Sheet1!$A$2:$A$11</c:f>
              <c:multiLvlStrCache>
                <c:ptCount val="10"/>
                <c:lvl>
                  <c:pt idx="0">
                    <c:v>0.05</c:v>
                  </c:pt>
                  <c:pt idx="1">
                    <c:v>0.15</c:v>
                  </c:pt>
                  <c:pt idx="2">
                    <c:v>0.25</c:v>
                  </c:pt>
                  <c:pt idx="3">
                    <c:v>0.35</c:v>
                  </c:pt>
                  <c:pt idx="4">
                    <c:v>0.45</c:v>
                  </c:pt>
                  <c:pt idx="5">
                    <c:v>0.55</c:v>
                  </c:pt>
                  <c:pt idx="6">
                    <c:v>0.65</c:v>
                  </c:pt>
                  <c:pt idx="7">
                    <c:v>0.75</c:v>
                  </c:pt>
                  <c:pt idx="8">
                    <c:v>0.85</c:v>
                  </c:pt>
                  <c:pt idx="9">
                    <c:v>0.95</c:v>
                  </c:pt>
                </c:lvl>
              </c:multiLvlStrCache>
            </c:multiLvlStrRef>
          </c:cat>
          <c:val>
            <c:numRef>
              <c:f>Sheet1!$B$2:$B$11</c:f>
              <c:numCache>
                <c:formatCode>General</c:formatCode>
                <c:ptCount val="10"/>
                <c:pt idx="0">
                  <c:v>0.05</c:v>
                </c:pt>
                <c:pt idx="1">
                  <c:v>0.15</c:v>
                </c:pt>
                <c:pt idx="2">
                  <c:v>0.25</c:v>
                </c:pt>
                <c:pt idx="3">
                  <c:v>0.35</c:v>
                </c:pt>
                <c:pt idx="4">
                  <c:v>0.45</c:v>
                </c:pt>
                <c:pt idx="5">
                  <c:v>0.55</c:v>
                </c:pt>
                <c:pt idx="6">
                  <c:v>0.65</c:v>
                </c:pt>
                <c:pt idx="7">
                  <c:v>0.75</c:v>
                </c:pt>
                <c:pt idx="8">
                  <c:v>0.85</c:v>
                </c:pt>
                <c:pt idx="9">
                  <c:v>0.95</c:v>
                </c:pt>
              </c:numCache>
            </c:numRef>
          </c:val>
          <c:smooth val="0"/>
        </c:ser>
        <c:ser>
          <c:idx val="1"/>
          <c:order val="1"/>
          <c:tx>
            <c:strRef>
              <c:f>Sheet1!$C$1</c:f>
              <c:strCache>
                <c:ptCount val="1"/>
                <c:pt idx="0">
                  <c:v>Logistic regression</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Sheet1!$A$2:$A$11</c:f>
              <c:multiLvlStrCache>
                <c:ptCount val="10"/>
                <c:lvl>
                  <c:pt idx="0">
                    <c:v>0.05</c:v>
                  </c:pt>
                  <c:pt idx="1">
                    <c:v>0.15</c:v>
                  </c:pt>
                  <c:pt idx="2">
                    <c:v>0.25</c:v>
                  </c:pt>
                  <c:pt idx="3">
                    <c:v>0.35</c:v>
                  </c:pt>
                  <c:pt idx="4">
                    <c:v>0.45</c:v>
                  </c:pt>
                  <c:pt idx="5">
                    <c:v>0.55</c:v>
                  </c:pt>
                  <c:pt idx="6">
                    <c:v>0.65</c:v>
                  </c:pt>
                  <c:pt idx="7">
                    <c:v>0.75</c:v>
                  </c:pt>
                  <c:pt idx="8">
                    <c:v>0.85</c:v>
                  </c:pt>
                  <c:pt idx="9">
                    <c:v>0.95</c:v>
                  </c:pt>
                </c:lvl>
              </c:multiLvlStrCache>
            </c:multiLvlStrRef>
          </c:cat>
          <c:val>
            <c:numRef>
              <c:f>Sheet1!$C$2:$C$11</c:f>
              <c:numCache>
                <c:formatCode>General</c:formatCode>
                <c:ptCount val="10"/>
                <c:pt idx="0">
                  <c:v>0.183</c:v>
                </c:pt>
                <c:pt idx="1">
                  <c:v>0.189</c:v>
                </c:pt>
                <c:pt idx="2">
                  <c:v>0.2158</c:v>
                </c:pt>
                <c:pt idx="3">
                  <c:v>0.3007</c:v>
                </c:pt>
                <c:pt idx="4">
                  <c:v>0.4157</c:v>
                </c:pt>
                <c:pt idx="5">
                  <c:v>0.5855</c:v>
                </c:pt>
                <c:pt idx="6">
                  <c:v>0.6525</c:v>
                </c:pt>
                <c:pt idx="7">
                  <c:v>0.5681</c:v>
                </c:pt>
                <c:pt idx="8">
                  <c:v>0.6363</c:v>
                </c:pt>
                <c:pt idx="9">
                  <c:v>0.7023</c:v>
                </c:pt>
              </c:numCache>
            </c:numRef>
          </c:val>
          <c:smooth val="0"/>
        </c:ser>
        <c:ser>
          <c:idx val="2"/>
          <c:order val="2"/>
          <c:tx>
            <c:strRef>
              <c:f>Sheet1!$D$1</c:f>
              <c:strCache>
                <c:ptCount val="1"/>
                <c:pt idx="0">
                  <c:v>XGBoost (tuned)</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Sheet1!$A$2:$A$11</c:f>
              <c:multiLvlStrCache>
                <c:ptCount val="10"/>
                <c:lvl>
                  <c:pt idx="0">
                    <c:v>0.05</c:v>
                  </c:pt>
                  <c:pt idx="1">
                    <c:v>0.15</c:v>
                  </c:pt>
                  <c:pt idx="2">
                    <c:v>0.25</c:v>
                  </c:pt>
                  <c:pt idx="3">
                    <c:v>0.35</c:v>
                  </c:pt>
                  <c:pt idx="4">
                    <c:v>0.45</c:v>
                  </c:pt>
                  <c:pt idx="5">
                    <c:v>0.55</c:v>
                  </c:pt>
                  <c:pt idx="6">
                    <c:v>0.65</c:v>
                  </c:pt>
                  <c:pt idx="7">
                    <c:v>0.75</c:v>
                  </c:pt>
                  <c:pt idx="8">
                    <c:v>0.85</c:v>
                  </c:pt>
                  <c:pt idx="9">
                    <c:v>0.95</c:v>
                  </c:pt>
                </c:lvl>
              </c:multiLvlStrCache>
            </c:multiLvlStrRef>
          </c:cat>
          <c:val>
            <c:numRef>
              <c:f>Sheet1!$D$2:$D$11</c:f>
              <c:numCache>
                <c:formatCode>General</c:formatCode>
                <c:ptCount val="10"/>
                <c:pt idx="0">
                  <c:v>0.0541</c:v>
                </c:pt>
                <c:pt idx="1">
                  <c:v>0.1592</c:v>
                </c:pt>
                <c:pt idx="2">
                  <c:v>0.2624</c:v>
                </c:pt>
                <c:pt idx="3">
                  <c:v>0.364</c:v>
                </c:pt>
                <c:pt idx="4">
                  <c:v>0.4531</c:v>
                </c:pt>
                <c:pt idx="5">
                  <c:v>0.546</c:v>
                </c:pt>
                <c:pt idx="6">
                  <c:v>0.6398</c:v>
                </c:pt>
                <c:pt idx="7">
                  <c:v>0.7411</c:v>
                </c:pt>
                <c:pt idx="8">
                  <c:v>0.847</c:v>
                </c:pt>
                <c:pt idx="9">
                  <c:v>0.946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1B2333"/>
                    </a:solidFill>
                    <a:latin typeface="Arial"/>
                  </a:defRPr>
                </a:pPr>
                <a:r>
                  <a:rPr sz="1200" b="0" i="0" u="none" strike="noStrike">
                    <a:solidFill>
                      <a:srgbClr val="1B2333"/>
                    </a:solidFill>
                    <a:latin typeface="Arial"/>
                  </a:rPr>
                  <a:t>Predicted probability (bin centre)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D9DEE6"/>
              </a:solidFill>
              <a:prstDash val="solid"/>
              <a:round/>
            </a:ln>
          </c:spPr>
        </c:majorGridlines>
        <c:title>
          <c:tx>
            <c:rich>
              <a:bodyPr/>
              <a:lstStyle/>
              <a:p>
                <a:pPr>
                  <a:defRPr sz="1200" b="0" i="0" u="none" strike="noStrike">
                    <a:solidFill>
                      <a:srgbClr val="1B2333"/>
                    </a:solidFill>
                    <a:latin typeface="Arial"/>
                  </a:defRPr>
                </a:pPr>
                <a:r>
                  <a:rPr sz="1200" b="0" i="0" u="none" strike="noStrike">
                    <a:solidFill>
                      <a:srgbClr val="1B2333"/>
                    </a:solidFill>
                    <a:latin typeface="Arial"/>
                  </a:rPr>
                  <a:t>Observed signal fraction</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2333"/>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333"/>
                </a:solidFill>
                <a:latin typeface="+mn-lt"/>
              </a:defRPr>
            </a:pPr>
            <a:r>
              <a:rPr sz="1200" b="0" i="0" u="none" strike="noStrike">
                <a:solidFill>
                  <a:srgbClr val="1B2333"/>
                </a:solidFill>
                <a:latin typeface="+mn-lt"/>
              </a:rPr>
              <a:t>Expected calibration error (lower is better), mean of 5 seeds</a:t>
            </a:r>
          </a:p>
        </c:rich>
      </c:tx>
      <c:layout/>
      <c:overlay val="0"/>
    </c:title>
    <c:autoTitleDeleted val="0"/>
    <c:plotArea>
      <c:layout/>
      <c:barChart>
        <c:barDir val="bar"/>
        <c:grouping val="clustered"/>
        <c:varyColors val="0"/>
        <c:ser>
          <c:idx val="0"/>
          <c:order val="0"/>
          <c:tx>
            <c:strRef>
              <c:f>Sheet1!$B$1</c:f>
              <c:strCache>
                <c:ptCount val="1"/>
                <c:pt idx="0">
                  <c:v>Raw</c:v>
                </c:pt>
              </c:strCache>
            </c:strRef>
          </c:tx>
          <c:spPr>
            <a:solidFill>
              <a:srgbClr val="E34948"/>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Sheet1!$A$2:$A$11</c:f>
              <c:multiLvlStrCache>
                <c:ptCount val="10"/>
                <c:lvl>
                  <c:pt idx="0">
                    <c:v>LogReg · low</c:v>
                  </c:pt>
                  <c:pt idx="1">
                    <c:v>LogReg · geo</c:v>
                  </c:pt>
                  <c:pt idx="2">
                    <c:v>LogReg · high</c:v>
                  </c:pt>
                  <c:pt idx="3">
                    <c:v>LogReg · all</c:v>
                  </c:pt>
                  <c:pt idx="4">
                    <c:v>LogReg · geo + high</c:v>
                  </c:pt>
                  <c:pt idx="5">
                    <c:v>XGBoost · low</c:v>
                  </c:pt>
                  <c:pt idx="6">
                    <c:v>XGBoost · geo</c:v>
                  </c:pt>
                  <c:pt idx="7">
                    <c:v>XGBoost · high</c:v>
                  </c:pt>
                  <c:pt idx="8">
                    <c:v>XGBoost · all</c:v>
                  </c:pt>
                  <c:pt idx="9">
                    <c:v>XGBoost · geo + high</c:v>
                  </c:pt>
                </c:lvl>
              </c:multiLvlStrCache>
            </c:multiLvlStrRef>
          </c:cat>
          <c:val>
            <c:numRef>
              <c:f>Sheet1!$B$2:$B$11</c:f>
              <c:numCache>
                <c:formatCode>General</c:formatCode>
                <c:ptCount val="10"/>
                <c:pt idx="0">
                  <c:v>0.015544400352646408</c:v>
                </c:pt>
                <c:pt idx="1">
                  <c:v>0.007855258237734437</c:v>
                </c:pt>
                <c:pt idx="2">
                  <c:v>0.048001606288581036</c:v>
                </c:pt>
                <c:pt idx="3">
                  <c:v>0.024235716977947745</c:v>
                </c:pt>
                <c:pt idx="4">
                  <c:v>0.018081564542595945</c:v>
                </c:pt>
                <c:pt idx="5">
                  <c:v>0.005307305787690427</c:v>
                </c:pt>
                <c:pt idx="6">
                  <c:v>0.0036710664330758765</c:v>
                </c:pt>
                <c:pt idx="7">
                  <c:v>0.006193748578379396</c:v>
                </c:pt>
                <c:pt idx="8">
                  <c:v>0.005344396064053662</c:v>
                </c:pt>
                <c:pt idx="9">
                  <c:v>0.0053695676134210436</c:v>
                </c:pt>
              </c:numCache>
            </c:numRef>
          </c:val>
        </c:ser>
        <c:ser>
          <c:idx val="1"/>
          <c:order val="1"/>
          <c:tx>
            <c:strRef>
              <c:f>Sheet1!$C$1</c:f>
              <c:strCache>
                <c:ptCount val="1"/>
                <c:pt idx="0">
                  <c:v>Platt</c:v>
                </c:pt>
              </c:strCache>
            </c:strRef>
          </c:tx>
          <c:spPr>
            <a:solidFill>
              <a:srgbClr val="6250D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Sheet1!$A$2:$A$11</c:f>
              <c:multiLvlStrCache>
                <c:ptCount val="10"/>
                <c:lvl>
                  <c:pt idx="0">
                    <c:v>LogReg · low</c:v>
                  </c:pt>
                  <c:pt idx="1">
                    <c:v>LogReg · geo</c:v>
                  </c:pt>
                  <c:pt idx="2">
                    <c:v>LogReg · high</c:v>
                  </c:pt>
                  <c:pt idx="3">
                    <c:v>LogReg · all</c:v>
                  </c:pt>
                  <c:pt idx="4">
                    <c:v>LogReg · geo + high</c:v>
                  </c:pt>
                  <c:pt idx="5">
                    <c:v>XGBoost · low</c:v>
                  </c:pt>
                  <c:pt idx="6">
                    <c:v>XGBoost · geo</c:v>
                  </c:pt>
                  <c:pt idx="7">
                    <c:v>XGBoost · high</c:v>
                  </c:pt>
                  <c:pt idx="8">
                    <c:v>XGBoost · all</c:v>
                  </c:pt>
                  <c:pt idx="9">
                    <c:v>XGBoost · geo + high</c:v>
                  </c:pt>
                </c:lvl>
              </c:multiLvlStrCache>
            </c:multiLvlStrRef>
          </c:cat>
          <c:val>
            <c:numRef>
              <c:f>Sheet1!$C$2:$C$11</c:f>
              <c:numCache>
                <c:formatCode>General</c:formatCode>
                <c:ptCount val="10"/>
                <c:pt idx="0">
                  <c:v>0.015652391190860093</c:v>
                </c:pt>
                <c:pt idx="1">
                  <c:v>0.008365133754914602</c:v>
                </c:pt>
                <c:pt idx="2">
                  <c:v>0.04833248951732606</c:v>
                </c:pt>
                <c:pt idx="3">
                  <c:v>0.024571867827987003</c:v>
                </c:pt>
                <c:pt idx="4">
                  <c:v>0.018539471645604395</c:v>
                </c:pt>
                <c:pt idx="5">
                  <c:v>0.005848859085111384</c:v>
                </c:pt>
                <c:pt idx="6">
                  <c:v>0.003364122454248711</c:v>
                </c:pt>
                <c:pt idx="7">
                  <c:v>0.005111157410902813</c:v>
                </c:pt>
                <c:pt idx="8">
                  <c:v>0.0060913245561802255</c:v>
                </c:pt>
                <c:pt idx="9">
                  <c:v>0.005317140653699132</c:v>
                </c:pt>
              </c:numCache>
            </c:numRef>
          </c:val>
        </c:ser>
        <c:ser>
          <c:idx val="2"/>
          <c:order val="2"/>
          <c:tx>
            <c:strRef>
              <c:f>Sheet1!$D$1</c:f>
              <c:strCache>
                <c:ptCount val="1"/>
                <c:pt idx="0">
                  <c:v>Isotonic</c:v>
                </c:pt>
              </c:strCache>
            </c:strRef>
          </c:tx>
          <c:spPr>
            <a:solidFill>
              <a:srgbClr val="008300"/>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Sheet1!$A$2:$A$11</c:f>
              <c:multiLvlStrCache>
                <c:ptCount val="10"/>
                <c:lvl>
                  <c:pt idx="0">
                    <c:v>LogReg · low</c:v>
                  </c:pt>
                  <c:pt idx="1">
                    <c:v>LogReg · geo</c:v>
                  </c:pt>
                  <c:pt idx="2">
                    <c:v>LogReg · high</c:v>
                  </c:pt>
                  <c:pt idx="3">
                    <c:v>LogReg · all</c:v>
                  </c:pt>
                  <c:pt idx="4">
                    <c:v>LogReg · geo + high</c:v>
                  </c:pt>
                  <c:pt idx="5">
                    <c:v>XGBoost · low</c:v>
                  </c:pt>
                  <c:pt idx="6">
                    <c:v>XGBoost · geo</c:v>
                  </c:pt>
                  <c:pt idx="7">
                    <c:v>XGBoost · high</c:v>
                  </c:pt>
                  <c:pt idx="8">
                    <c:v>XGBoost · all</c:v>
                  </c:pt>
                  <c:pt idx="9">
                    <c:v>XGBoost · geo + high</c:v>
                  </c:pt>
                </c:lvl>
              </c:multiLvlStrCache>
            </c:multiLvlStrRef>
          </c:cat>
          <c:val>
            <c:numRef>
              <c:f>Sheet1!$D$2:$D$11</c:f>
              <c:numCache>
                <c:formatCode>General</c:formatCode>
                <c:ptCount val="10"/>
                <c:pt idx="0">
                  <c:v>0.005433682716155006</c:v>
                </c:pt>
                <c:pt idx="1">
                  <c:v>0.0052678268453193716</c:v>
                </c:pt>
                <c:pt idx="2">
                  <c:v>0.006081553730411366</c:v>
                </c:pt>
                <c:pt idx="3">
                  <c:v>0.006083408710905557</c:v>
                </c:pt>
                <c:pt idx="4">
                  <c:v>0.00644373967227085</c:v>
                </c:pt>
                <c:pt idx="5">
                  <c:v>0.00724605555991463</c:v>
                </c:pt>
                <c:pt idx="6">
                  <c:v>0.00813583420570419</c:v>
                </c:pt>
                <c:pt idx="7">
                  <c:v>0.006465429605177086</c:v>
                </c:pt>
                <c:pt idx="8">
                  <c:v>0.006730720826421774</c:v>
                </c:pt>
                <c:pt idx="9">
                  <c:v>0.007750433476768885</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max val="0.05"/>
          <c:min val="0"/>
        </c:scaling>
        <c:delete val="0"/>
        <c:axPos val="b"/>
        <c:majorGridlines>
          <c:spPr>
            <a:ln w="9525" cap="flat">
              <a:solidFill>
                <a:srgbClr val="D9DE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1B2333"/>
                </a:solidFill>
                <a:latin typeface="+mn-lt"/>
              </a:defRPr>
            </a:pPr>
            <a:endParaRPr lang="en-US"/>
          </a:p>
        </c:txPr>
        <c:crossAx val="2094734554"/>
        <c:crosses val="autoZero"/>
        <c:crossBetween val="between"/>
        <c:majorUnit val="0.0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cover how we applied the two machine-learning models, how we know the differences are real, and whether their probabilities can be trusted, and at what compute cost. Everything uses the same 250k-event budget, five random seeds, and the same 500k held-out test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two models: logistic regression, our linear, interpretable baseline, and XGBoost, a tuned gradient-boosted tree ensemble, the standard in particle physics. Both were trained on five feature sets at the same 250k-event budget, scored on the same 500k test events, and repeated over five seeds.
Three things stand out. First, XGBoost beats logistic regression on every feature set, by 0.14 to 0.17 AUC: a straight-line model simply can't represent this problem. Second, our geometric features reach 0.801, higher than the physicists' 7 expert masses at 0.787, without using any masses at all. Third, combining our geometry with the masses gives the best model, 0.838, beating the original paper's feature set at 0.823.
If asked why logistic regression fails: its log-odds are linear in the inputs, but the signal lives in angle differences and masses, which are non-linear functions of the raw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these differences are real? All models are scored on the same test events, so their AUCs are correlated, and a naive comparison would be wrong. We use DeLong's paired test, which accounts for that correlation. Every improvement here, for example +0.064 from our geometric features, is significant in all five seeds, and seed-to-seed variation is under 0.001.
Hyperparameters were chosen fairly: stratified 3-fold cross-validation on training data only, so the test set was never touched. A random search over 12 configurations picked deep trees, depth 8 to 10, learning rate 0.05 and min_child_weight 20. Deep trees make sense because the signal is a high-order interaction of the raw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AUC means the model ranks events well. Calibration asks something different: when the model says 70% signal, is it right 70% of the time? This plot compares predicted probability with the observed signal rate; a perfect model sits on the grey diagonal.
XGBoost sits right on it: expected calibration error 0.006 here, and 0.004 to 0.006 on every feature set, with no correction needed. Logistic regression bends away, ECE 0.048 on the expert masses, because its linear assumption is wrong, not because of noise. We fit two standard fixes on a separate calibration split. Platt scaling only stretches the curve, so it can't fix the shape and leaves ECE at 0.048. Isotonic regression can follow any monotone shape and brings it down to 0.006.
ECE: split predictions into 15 equal-width bins; in each, compare the average predicted probability with the actual signal fraction; ECE is the size-weighted average of those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compute: logistic regression trains in under a fifth of a second. XGBoost takes 1.5 to 12 seconds on 200k events. Those few seconds buy 0.14 to 0.17 AUC. The best value is XGBoost on the paper's features, 4.8 seconds for 0.823; the best overall is geometry plus masses, 0.838 in about 10 seconds.
All timings are at the 250k budget on the same machine; we don't compare times from the 1M+ runs, which ran under memory pressure.
Transition: So XGBoost is accurate, calibrated and cheap. Next, [teammate] will explain what the model actually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if asked about calibration methods. Platt cannot change the shape of the reliability curve because it is an affine map of the logit; isotonic can. XGBoost is calibrated already because it is trained and early-stopped on log loss, a proper scoring rule. Older findings that boosting is miscalibrated were for boosted stumps with exponential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28016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3" name="Text 0"/>
          <p:cNvSpPr/>
          <p:nvPr>
            <p:ph idx="101" type="body" hasCustomPrompt="1"/>
          </p:nvPr>
        </p:nvSpPr>
        <p:spPr>
          <a:xfrm>
            <a:off x="548640" y="3246120"/>
            <a:ext cx="11094415"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chemeClr val="tx2"/>
                </a:solidFill>
                <a:latin typeface="Cambria" pitchFamily="34" charset="0"/>
                <a:ea typeface="Cambria" pitchFamily="34" charset="-122"/>
                <a:cs typeface="Cambria" pitchFamily="34" charset="-120"/>
              </a:defRPr>
            </a:lvl1pPr>
          </a:lstStyle>
          <a:p>
            <a:pPr indent="0" marL="0">
              <a:buNone/>
            </a:pPr>
            <a:r>
              <a:rPr lang="en-US" sz="3600" b="1" dirty="0">
                <a:solidFill>
                  <a:schemeClr val="tx2"/>
                </a:solidFill>
                <a:latin typeface="Cambria" pitchFamily="34" charset="0"/>
                <a:ea typeface="Cambria" pitchFamily="34" charset="-122"/>
                <a:cs typeface="Cambria" pitchFamily="34" charset="-120"/>
              </a:rPr>
              <a:t>Title</a:t>
            </a: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HIGGS signal detection  ·  Phase 1: Machine Learning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280160"/>
          </a:xfrm>
          <a:prstGeom prst="rect">
            <a:avLst/>
          </a:prstGeom>
          <a:noFill/>
          <a:ln/>
        </p:spPr>
        <p:txBody>
          <a:bodyPr wrap="square" lIns="0" tIns="0" rIns="0" bIns="0" rtlCol="0" anchor="b"/>
          <a:lstStyle/>
          <a:p>
            <a:pPr indent="0" marL="0">
              <a:buNone/>
            </a:pPr>
            <a:r>
              <a:rPr lang="en-US" sz="4400" b="1" dirty="0">
                <a:solidFill>
                  <a:schemeClr val="bg1"/>
                </a:solidFill>
                <a:latin typeface="Cambria" pitchFamily="34" charset="0"/>
                <a:ea typeface="Cambria" pitchFamily="34" charset="-122"/>
                <a:cs typeface="Cambria" pitchFamily="34" charset="-120"/>
              </a:rPr>
              <a:t>Model Application &amp; Calibration</a:t>
            </a:r>
            <a:endParaRPr lang="en-US" sz="4400" dirty="0"/>
          </a:p>
        </p:txBody>
      </p:sp>
      <p:sp>
        <p:nvSpPr>
          <p:cNvPr id="3" name="Text 0"/>
          <p:cNvSpPr/>
          <p:nvPr>
            <p:ph idx="101" type="body" hasCustomPrompt="1"/>
          </p:nvPr>
        </p:nvSpPr>
        <p:spPr>
          <a:xfrm>
            <a:off x="548640" y="3246120"/>
            <a:ext cx="11094415" cy="914400"/>
          </a:xfrm>
          <a:prstGeom prst="rect">
            <a:avLst/>
          </a:prstGeom>
          <a:noFill/>
          <a:ln/>
        </p:spPr>
        <p:txBody>
          <a:bodyPr wrap="square" lIns="0" tIns="0" rIns="0" bIns="0" rtlCol="0" anchor="t"/>
          <a:lstStyle/>
          <a:p>
            <a:pPr indent="0" marL="0">
              <a:buNone/>
            </a:pPr>
            <a:r>
              <a:rPr lang="en-US" sz="2000" dirty="0">
                <a:solidFill>
                  <a:schemeClr val="bg2"/>
                </a:solidFill>
              </a:rPr>
              <a:t>HIGGS signal detection  ·  Phase 1: Machine Learning</a:t>
            </a:r>
            <a:endParaRPr lang="en-US" sz="2000" dirty="0"/>
          </a:p>
          <a:p>
            <a:pPr indent="0" marL="0">
              <a:buNone/>
            </a:pPr>
            <a:r>
              <a:rPr lang="en-US" sz="2000" b="1" dirty="0">
                <a:solidFill>
                  <a:schemeClr val="accent1"/>
                </a:solidFill>
              </a:rPr>
              <a:t>Ananya Soni</a:t>
            </a:r>
            <a:endParaRPr lang="en-US" sz="2000" dirty="0"/>
          </a:p>
        </p:txBody>
      </p:sp>
      <p:sp>
        <p:nvSpPr>
          <p:cNvPr id="4" name="fact 1"/>
          <p:cNvSpPr txBox="1"/>
          <p:nvPr/>
        </p:nvSpPr>
        <p:spPr>
          <a:xfrm>
            <a:off x="548640" y="4846320"/>
            <a:ext cx="2560320" cy="10058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2</a:t>
            </a:r>
            <a:endParaRPr lang="en-US" sz="3000" dirty="0"/>
          </a:p>
          <a:p>
            <a:pPr indent="0" marL="0">
              <a:buNone/>
            </a:pPr>
            <a:r>
              <a:rPr lang="en-US" sz="1400" dirty="0">
                <a:solidFill>
                  <a:schemeClr val="bg2"/>
                </a:solidFill>
                <a:latin typeface="Calibri" pitchFamily="34" charset="0"/>
                <a:ea typeface="Calibri" pitchFamily="34" charset="-122"/>
                <a:cs typeface="Calibri" pitchFamily="34" charset="-120"/>
              </a:rPr>
              <a:t>models</a:t>
            </a:r>
            <a:endParaRPr lang="en-US" sz="3000" dirty="0"/>
          </a:p>
        </p:txBody>
      </p:sp>
      <p:sp>
        <p:nvSpPr>
          <p:cNvPr id="5" name="fact 2"/>
          <p:cNvSpPr txBox="1"/>
          <p:nvPr/>
        </p:nvSpPr>
        <p:spPr>
          <a:xfrm>
            <a:off x="3337560" y="4846320"/>
            <a:ext cx="2560320" cy="10058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5</a:t>
            </a:r>
            <a:endParaRPr lang="en-US" sz="3000" dirty="0"/>
          </a:p>
          <a:p>
            <a:pPr indent="0" marL="0">
              <a:buNone/>
            </a:pPr>
            <a:r>
              <a:rPr lang="en-US" sz="1400" dirty="0">
                <a:solidFill>
                  <a:schemeClr val="bg2"/>
                </a:solidFill>
                <a:latin typeface="Calibri" pitchFamily="34" charset="0"/>
                <a:ea typeface="Calibri" pitchFamily="34" charset="-122"/>
                <a:cs typeface="Calibri" pitchFamily="34" charset="-120"/>
              </a:rPr>
              <a:t>feature sets</a:t>
            </a:r>
            <a:endParaRPr lang="en-US" sz="3000" dirty="0"/>
          </a:p>
        </p:txBody>
      </p:sp>
      <p:sp>
        <p:nvSpPr>
          <p:cNvPr id="6" name="fact 3"/>
          <p:cNvSpPr txBox="1"/>
          <p:nvPr/>
        </p:nvSpPr>
        <p:spPr>
          <a:xfrm>
            <a:off x="6126480" y="4846320"/>
            <a:ext cx="2560320" cy="10058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5</a:t>
            </a:r>
            <a:endParaRPr lang="en-US" sz="3000" dirty="0"/>
          </a:p>
          <a:p>
            <a:pPr indent="0" marL="0">
              <a:buNone/>
            </a:pPr>
            <a:r>
              <a:rPr lang="en-US" sz="1400" dirty="0">
                <a:solidFill>
                  <a:schemeClr val="bg2"/>
                </a:solidFill>
                <a:latin typeface="Calibri" pitchFamily="34" charset="0"/>
                <a:ea typeface="Calibri" pitchFamily="34" charset="-122"/>
                <a:cs typeface="Calibri" pitchFamily="34" charset="-120"/>
              </a:rPr>
              <a:t>seeds</a:t>
            </a:r>
            <a:endParaRPr lang="en-US" sz="3000" dirty="0"/>
          </a:p>
        </p:txBody>
      </p:sp>
      <p:sp>
        <p:nvSpPr>
          <p:cNvPr id="7" name="fact 4"/>
          <p:cNvSpPr txBox="1"/>
          <p:nvPr/>
        </p:nvSpPr>
        <p:spPr>
          <a:xfrm>
            <a:off x="8915400" y="4846320"/>
            <a:ext cx="2560320" cy="1005840"/>
          </a:xfrm>
          <a:prstGeom prst="rect">
            <a:avLst/>
          </a:prstGeom>
          <a:noFill/>
          <a:ln/>
        </p:spPr>
        <p:txBody>
          <a:bodyPr wrap="square" lIns="0" tIns="0" rIns="0" bIns="0" rtlCol="0" anchor="t"/>
          <a:lstStyle/>
          <a:p>
            <a:pPr indent="0" marL="0">
              <a:buNone/>
            </a:pPr>
            <a:r>
              <a:rPr lang="en-US" sz="3000" b="1" dirty="0">
                <a:solidFill>
                  <a:schemeClr val="accent1"/>
                </a:solidFill>
                <a:latin typeface="Calibri" pitchFamily="34" charset="0"/>
                <a:ea typeface="Calibri" pitchFamily="34" charset="-122"/>
                <a:cs typeface="Calibri" pitchFamily="34" charset="-120"/>
              </a:rPr>
              <a:t>500k</a:t>
            </a:r>
            <a:endParaRPr lang="en-US" sz="3000" dirty="0"/>
          </a:p>
          <a:p>
            <a:pPr indent="0" marL="0">
              <a:buNone/>
            </a:pPr>
            <a:r>
              <a:rPr lang="en-US" sz="1400" dirty="0">
                <a:solidFill>
                  <a:schemeClr val="bg2"/>
                </a:solidFill>
                <a:latin typeface="Calibri" pitchFamily="34" charset="0"/>
                <a:ea typeface="Calibri" pitchFamily="34" charset="-122"/>
                <a:cs typeface="Calibri" pitchFamily="34" charset="-120"/>
              </a:rPr>
              <a:t>fixed test events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XGBoost wins on every feature set</a:t>
            </a:r>
            <a:endParaRPr lang="en-US" sz="3600" dirty="0"/>
          </a:p>
        </p:txBody>
      </p:sp>
      <p:graphicFrame>
        <p:nvGraphicFramePr>
          <p:cNvPr id="3" name="AUC by feature set chart" descr=""/>
          <p:cNvGraphicFramePr/>
          <p:nvPr/>
        </p:nvGraphicFramePr>
        <p:xfrm>
          <a:off x="548640" y="1280160"/>
          <a:ext cx="7223760" cy="4572000"/>
        </p:xfrm>
        <a:graphic xmlns:a="http://schemas.openxmlformats.org/drawingml/2006/main">
          <a:graphicData uri="http://schemas.openxmlformats.org/drawingml/2006/chart">
            <c:chart xmlns:c="http://schemas.openxmlformats.org/drawingml/2006/chart" r:id="rId1"/>
          </a:graphicData>
        </a:graphic>
      </p:graphicFrame>
      <p:sp>
        <p:nvSpPr>
          <p:cNvPr id="4" name="best card"/>
          <p:cNvSpPr/>
          <p:nvPr/>
        </p:nvSpPr>
        <p:spPr>
          <a:xfrm>
            <a:off x="8138160" y="1280160"/>
            <a:ext cx="3502152" cy="1417320"/>
          </a:xfrm>
          <a:prstGeom prst="roundRect">
            <a:avLst>
              <a:gd name="adj" fmla="val 7742"/>
            </a:avLst>
          </a:prstGeom>
          <a:solidFill>
            <a:schemeClr val="bg2"/>
          </a:solidFill>
          <a:ln w="12700">
            <a:solidFill>
              <a:schemeClr val="bg2"/>
            </a:solidFill>
            <a:prstDash val="solid"/>
          </a:ln>
        </p:spPr>
      </p:sp>
      <p:sp>
        <p:nvSpPr>
          <p:cNvPr id="5" name="best value"/>
          <p:cNvSpPr txBox="1"/>
          <p:nvPr/>
        </p:nvSpPr>
        <p:spPr>
          <a:xfrm>
            <a:off x="8366760" y="1389888"/>
            <a:ext cx="3044952" cy="680314"/>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0.838</a:t>
            </a:r>
            <a:endParaRPr lang="en-US" sz="3200" dirty="0"/>
          </a:p>
        </p:txBody>
      </p:sp>
      <p:sp>
        <p:nvSpPr>
          <p:cNvPr id="6" name="best label"/>
          <p:cNvSpPr txBox="1"/>
          <p:nvPr/>
        </p:nvSpPr>
        <p:spPr>
          <a:xfrm>
            <a:off x="8366760" y="2061972"/>
            <a:ext cx="3044952" cy="525780"/>
          </a:xfrm>
          <a:prstGeom prst="rect">
            <a:avLst/>
          </a:prstGeom>
          <a:noFill/>
          <a:ln/>
        </p:spPr>
        <p:txBody>
          <a:bodyPr wrap="square" lIns="0" tIns="0" rIns="0" bIns="0" rtlCol="0" anchor="t"/>
          <a:lstStyle/>
          <a:p>
            <a:pPr indent="0" marL="0">
              <a:buNone/>
            </a:pPr>
            <a:r>
              <a:rPr lang="en-US" sz="1400" b="1" dirty="0">
                <a:solidFill>
                  <a:schemeClr val="tx1"/>
                </a:solidFill>
              </a:rPr>
              <a:t>Best model</a:t>
            </a:r>
            <a:endParaRPr lang="en-US" sz="1400" dirty="0"/>
          </a:p>
          <a:p>
            <a:pPr indent="0" marL="0">
              <a:buNone/>
            </a:pPr>
            <a:r>
              <a:rPr lang="en-US" sz="1400" dirty="0">
                <a:solidFill>
                  <a:schemeClr val="tx1"/>
                </a:solidFill>
              </a:rPr>
              <a:t>XGBoost on geo + high</a:t>
            </a:r>
            <a:endParaRPr lang="en-US" sz="1400" dirty="0"/>
          </a:p>
        </p:txBody>
      </p:sp>
      <p:sp>
        <p:nvSpPr>
          <p:cNvPr id="7" name="geo card"/>
          <p:cNvSpPr/>
          <p:nvPr/>
        </p:nvSpPr>
        <p:spPr>
          <a:xfrm>
            <a:off x="8138160" y="2852928"/>
            <a:ext cx="3502152" cy="1417320"/>
          </a:xfrm>
          <a:prstGeom prst="roundRect">
            <a:avLst>
              <a:gd name="adj" fmla="val 7742"/>
            </a:avLst>
          </a:prstGeom>
          <a:solidFill>
            <a:schemeClr val="bg2"/>
          </a:solidFill>
          <a:ln w="12700">
            <a:solidFill>
              <a:schemeClr val="bg2"/>
            </a:solidFill>
            <a:prstDash val="solid"/>
          </a:ln>
        </p:spPr>
      </p:sp>
      <p:sp>
        <p:nvSpPr>
          <p:cNvPr id="8" name="geo value"/>
          <p:cNvSpPr txBox="1"/>
          <p:nvPr/>
        </p:nvSpPr>
        <p:spPr>
          <a:xfrm>
            <a:off x="8366760" y="2962656"/>
            <a:ext cx="3044952" cy="680314"/>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0.801 &gt; 0.787</a:t>
            </a:r>
            <a:endParaRPr lang="en-US" sz="3200" dirty="0"/>
          </a:p>
        </p:txBody>
      </p:sp>
      <p:sp>
        <p:nvSpPr>
          <p:cNvPr id="9" name="geo label"/>
          <p:cNvSpPr txBox="1"/>
          <p:nvPr/>
        </p:nvSpPr>
        <p:spPr>
          <a:xfrm>
            <a:off x="8366760" y="3634740"/>
            <a:ext cx="3044952" cy="525780"/>
          </a:xfrm>
          <a:prstGeom prst="rect">
            <a:avLst/>
          </a:prstGeom>
          <a:noFill/>
          <a:ln/>
        </p:spPr>
        <p:txBody>
          <a:bodyPr wrap="square" lIns="0" tIns="0" rIns="0" bIns="0" rtlCol="0" anchor="t"/>
          <a:lstStyle/>
          <a:p>
            <a:pPr indent="0" marL="0">
              <a:buNone/>
            </a:pPr>
            <a:r>
              <a:rPr lang="en-US" sz="1400" b="1" dirty="0">
                <a:solidFill>
                  <a:schemeClr val="tx1"/>
                </a:solidFill>
              </a:rPr>
              <a:t>Our geometry beats</a:t>
            </a:r>
            <a:endParaRPr lang="en-US" sz="1400" dirty="0"/>
          </a:p>
          <a:p>
            <a:pPr indent="0" marL="0">
              <a:buNone/>
            </a:pPr>
            <a:r>
              <a:rPr lang="en-US" sz="1400" dirty="0">
                <a:solidFill>
                  <a:schemeClr val="tx1"/>
                </a:solidFill>
              </a:rPr>
              <a:t>the 7 expert masses</a:t>
            </a:r>
            <a:endParaRPr lang="en-US" sz="1400" dirty="0"/>
          </a:p>
        </p:txBody>
      </p:sp>
      <p:sp>
        <p:nvSpPr>
          <p:cNvPr id="10" name="gap card"/>
          <p:cNvSpPr/>
          <p:nvPr/>
        </p:nvSpPr>
        <p:spPr>
          <a:xfrm>
            <a:off x="8138160" y="4425696"/>
            <a:ext cx="3502152" cy="1417320"/>
          </a:xfrm>
          <a:prstGeom prst="roundRect">
            <a:avLst>
              <a:gd name="adj" fmla="val 7742"/>
            </a:avLst>
          </a:prstGeom>
          <a:solidFill>
            <a:schemeClr val="bg2"/>
          </a:solidFill>
          <a:ln w="12700">
            <a:solidFill>
              <a:schemeClr val="bg2"/>
            </a:solidFill>
            <a:prstDash val="solid"/>
          </a:ln>
        </p:spPr>
      </p:sp>
      <p:sp>
        <p:nvSpPr>
          <p:cNvPr id="11" name="gap value"/>
          <p:cNvSpPr txBox="1"/>
          <p:nvPr/>
        </p:nvSpPr>
        <p:spPr>
          <a:xfrm>
            <a:off x="8366760" y="4535424"/>
            <a:ext cx="3044952" cy="680314"/>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+0.14 to +0.17</a:t>
            </a:r>
            <a:endParaRPr lang="en-US" sz="3200" dirty="0"/>
          </a:p>
        </p:txBody>
      </p:sp>
      <p:sp>
        <p:nvSpPr>
          <p:cNvPr id="12" name="gap label"/>
          <p:cNvSpPr txBox="1"/>
          <p:nvPr/>
        </p:nvSpPr>
        <p:spPr>
          <a:xfrm>
            <a:off x="8366760" y="5207508"/>
            <a:ext cx="3044952" cy="525780"/>
          </a:xfrm>
          <a:prstGeom prst="rect">
            <a:avLst/>
          </a:prstGeom>
          <a:noFill/>
          <a:ln/>
        </p:spPr>
        <p:txBody>
          <a:bodyPr wrap="square" lIns="0" tIns="0" rIns="0" bIns="0" rtlCol="0" anchor="t"/>
          <a:lstStyle/>
          <a:p>
            <a:pPr indent="0" marL="0">
              <a:buNone/>
            </a:pPr>
            <a:r>
              <a:rPr lang="en-US" sz="1400" b="1" dirty="0">
                <a:solidFill>
                  <a:schemeClr val="tx1"/>
                </a:solidFill>
              </a:rPr>
              <a:t>XGBoost over LogReg</a:t>
            </a:r>
            <a:endParaRPr lang="en-US" sz="1400" dirty="0"/>
          </a:p>
          <a:p>
            <a:pPr indent="0" marL="0">
              <a:buNone/>
            </a:pPr>
            <a:r>
              <a:rPr lang="en-US" sz="1400" dirty="0">
                <a:solidFill>
                  <a:schemeClr val="tx1"/>
                </a:solidFill>
              </a:rPr>
              <a:t>on every feature set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Every gain holds in all 5 seeds</a:t>
            </a:r>
            <a:endParaRPr lang="en-US" sz="3600" dirty="0"/>
          </a:p>
        </p:txBody>
      </p:sp>
      <p:graphicFrame>
        <p:nvGraphicFramePr>
          <p:cNvPr id="3" name="AUC gains chart" descr=""/>
          <p:cNvGraphicFramePr/>
          <p:nvPr/>
        </p:nvGraphicFramePr>
        <p:xfrm>
          <a:off x="548640" y="1280160"/>
          <a:ext cx="6309360" cy="4206240"/>
        </p:xfrm>
        <a:graphic xmlns:a="http://schemas.openxmlformats.org/drawingml/2006/main">
          <a:graphicData uri="http://schemas.openxmlformats.org/drawingml/2006/chart">
            <c:chart xmlns:c="http://schemas.openxmlformats.org/drawingml/2006/chart" r:id="rId1"/>
          </a:graphicData>
        </a:graphic>
      </p:graphicFrame>
      <p:sp>
        <p:nvSpPr>
          <p:cNvPr id="4" name="DeLong caption"/>
          <p:cNvSpPr txBox="1"/>
          <p:nvPr/>
        </p:nvSpPr>
        <p:spPr>
          <a:xfrm>
            <a:off x="548640" y="5577840"/>
            <a:ext cx="6309360" cy="320040"/>
          </a:xfrm>
          <a:prstGeom prst="rect">
            <a:avLst/>
          </a:prstGeom>
          <a:noFill/>
          <a:ln/>
        </p:spPr>
        <p:txBody>
          <a:bodyPr wrap="square" lIns="0" tIns="0" rIns="0" bIns="0" rtlCol="0" anchor="ctr"/>
          <a:lstStyle/>
          <a:p>
            <a:pPr indent="0" marL="0">
              <a:buNone/>
            </a:pPr>
            <a:r>
              <a:rPr lang="en-US" sz="1100" i="1" dirty="0">
                <a:solidFill>
                  <a:schemeClr val="accent6"/>
                </a:solidFill>
              </a:rPr>
              <a:t>Paired DeLong test on the same 500k test events: every row significant (p &lt; 0.05) in 5/5 seeds; 95% CI ± ≤ 0.0014.</a:t>
            </a:r>
            <a:endParaRPr lang="en-US" sz="1100" dirty="0"/>
          </a:p>
        </p:txBody>
      </p:sp>
      <p:sp>
        <p:nvSpPr>
          <p:cNvPr id="5" name="tuning heading"/>
          <p:cNvSpPr txBox="1"/>
          <p:nvPr/>
        </p:nvSpPr>
        <p:spPr>
          <a:xfrm>
            <a:off x="7223760" y="1280160"/>
            <a:ext cx="4416552"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How the hyperparameters were chosen</a:t>
            </a:r>
            <a:endParaRPr lang="en-US" sz="1800" dirty="0"/>
          </a:p>
        </p:txBody>
      </p:sp>
      <p:graphicFrame>
        <p:nvGraphicFramePr>
          <p:cNvPr id="4" name="tuning table"/>
          <p:cNvGraphicFramePr>
            <a:graphicFrameLocks noGrp="1"/>
          </p:cNvGraphicFramePr>
          <p:nvPr>
            <p:extLst>
              <p:ext uri="{D42A27DB-BD31-4B8C-83A1-F6EECF244321}">
                <p14:modId xmlns:p14="http://schemas.microsoft.com/office/powerpoint/2010/main" val="1579011935"/>
              </p:ext>
            </p:extLst>
          </p:nvPr>
        </p:nvGraphicFramePr>
        <p:xfrm>
          <a:off x="7223760" y="1783080"/>
          <a:ext cx="4416552" cy="914400"/>
        </p:xfrm>
        <a:graphic>
          <a:graphicData uri="http://schemas.openxmlformats.org/drawingml/2006/table">
            <a:tbl>
              <a:tblPr/>
              <a:tblGrid>
                <a:gridCol w="1325880"/>
                <a:gridCol w="685800"/>
                <a:gridCol w="685800"/>
                <a:gridCol w="685800"/>
                <a:gridCol w="1033272"/>
              </a:tblGrid>
              <a:tr h="384048">
                <a:tc>
                  <a:txBody>
                    <a:bodyPr/>
                    <a:lstStyle/>
                    <a:p>
                      <a:pPr algn="ctr" indent="0" marL="0">
                        <a:buNone/>
                      </a:pPr>
                      <a:r>
                        <a:rPr lang="en-US" sz="1400" b="1" dirty="0">
                          <a:solidFill>
                            <a:schemeClr val="bg1"/>
                          </a:solidFill>
                        </a:rPr>
                        <a:t>Features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Depth</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η</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mcw</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CV AUC</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r>
              <a:tr h="384048">
                <a:tc>
                  <a:txBody>
                    <a:bodyPr/>
                    <a:lstStyle/>
                    <a:p>
                      <a:pPr algn="ctr" indent="0" marL="0">
                        <a:buNone/>
                      </a:pPr>
                      <a:r>
                        <a:rPr lang="en-US" sz="1400" dirty="0">
                          <a:solidFill>
                            <a:schemeClr val="tx1"/>
                          </a:solidFill>
                        </a:rPr>
                        <a:t>low</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10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0.05</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20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0.727</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r>
              <a:tr h="384048">
                <a:tc>
                  <a:txBody>
                    <a:bodyPr/>
                    <a:lstStyle/>
                    <a:p>
                      <a:pPr algn="ctr" indent="0" marL="0">
                        <a:buNone/>
                      </a:pPr>
                      <a:r>
                        <a:rPr lang="en-US" sz="1400" dirty="0">
                          <a:solidFill>
                            <a:schemeClr val="tx1"/>
                          </a:solidFill>
                        </a:rPr>
                        <a:t>geo</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0.05</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0.792</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chemeClr val="tx1"/>
                          </a:solidFill>
                        </a:rPr>
                        <a:t>high</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8</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0.05</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20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0.787</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r>
              <a:tr h="384048">
                <a:tc>
                  <a:txBody>
                    <a:bodyPr/>
                    <a:lstStyle/>
                    <a:p>
                      <a:pPr algn="ctr" indent="0" marL="0">
                        <a:buNone/>
                      </a:pPr>
                      <a:r>
                        <a:rPr lang="en-US" sz="1400" dirty="0">
                          <a:solidFill>
                            <a:schemeClr val="tx1"/>
                          </a:solidFill>
                        </a:rPr>
                        <a:t>all</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8</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0.05</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0.820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chemeClr val="tx1"/>
                          </a:solidFill>
                        </a:rPr>
                        <a:t>geo + high</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8</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0.05</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20</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0.834</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r>
            </a:tbl>
          </a:graphicData>
        </a:graphic>
      </p:graphicFrame>
      <p:sp>
        <p:nvSpPr>
          <p:cNvPr id="7" name="tuning bullets"/>
          <p:cNvSpPr txBox="1"/>
          <p:nvPr/>
        </p:nvSpPr>
        <p:spPr>
          <a:xfrm>
            <a:off x="7223760" y="4251960"/>
            <a:ext cx="4416552"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Stratified 3-fold CV on the training split only</a:t>
            </a:r>
            <a:endParaRPr lang="en-US" sz="1400" dirty="0"/>
          </a:p>
          <a:p>
            <a:pPr marL="342900" indent="-342900">
              <a:spcAft>
                <a:spcPts val="600"/>
              </a:spcAft>
              <a:buSzPct val="100000"/>
              <a:buChar char="•"/>
            </a:pPr>
            <a:r>
              <a:rPr lang="en-US" sz="1400" dirty="0">
                <a:solidFill>
                  <a:schemeClr val="tx1"/>
                </a:solidFill>
              </a:rPr>
              <a:t>12 random configurations per feature set</a:t>
            </a:r>
            <a:endParaRPr lang="en-US" sz="1400" dirty="0"/>
          </a:p>
          <a:p>
            <a:pPr marL="342900" indent="-342900">
              <a:spcAft>
                <a:spcPts val="600"/>
              </a:spcAft>
              <a:buSzPct val="100000"/>
              <a:buChar char="•"/>
            </a:pPr>
            <a:r>
              <a:rPr lang="en-US" sz="1400" dirty="0">
                <a:solidFill>
                  <a:schemeClr val="tx1"/>
                </a:solidFill>
              </a:rPr>
              <a:t>Deep trees win: the signal is a high-order interaction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XGBoost's probabilities can be trusted</a:t>
            </a:r>
            <a:endParaRPr lang="en-US" sz="3600" dirty="0"/>
          </a:p>
        </p:txBody>
      </p:sp>
      <p:graphicFrame>
        <p:nvGraphicFramePr>
          <p:cNvPr id="3" name="reliability chart" descr=""/>
          <p:cNvGraphicFramePr/>
          <p:nvPr/>
        </p:nvGraphicFramePr>
        <p:xfrm>
          <a:off x="548640" y="12801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xgb ece card"/>
          <p:cNvSpPr/>
          <p:nvPr/>
        </p:nvSpPr>
        <p:spPr>
          <a:xfrm>
            <a:off x="7680960" y="1280160"/>
            <a:ext cx="3959352" cy="1417320"/>
          </a:xfrm>
          <a:prstGeom prst="roundRect">
            <a:avLst>
              <a:gd name="adj" fmla="val 7742"/>
            </a:avLst>
          </a:prstGeom>
          <a:solidFill>
            <a:schemeClr val="bg2"/>
          </a:solidFill>
          <a:ln w="12700">
            <a:solidFill>
              <a:schemeClr val="bg2"/>
            </a:solidFill>
            <a:prstDash val="solid"/>
          </a:ln>
        </p:spPr>
      </p:sp>
      <p:sp>
        <p:nvSpPr>
          <p:cNvPr id="5" name="xgb ece value"/>
          <p:cNvSpPr txBox="1"/>
          <p:nvPr/>
        </p:nvSpPr>
        <p:spPr>
          <a:xfrm>
            <a:off x="7909560" y="1389888"/>
            <a:ext cx="3502152" cy="680314"/>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0.006</a:t>
            </a:r>
            <a:endParaRPr lang="en-US" sz="3200" dirty="0"/>
          </a:p>
        </p:txBody>
      </p:sp>
      <p:sp>
        <p:nvSpPr>
          <p:cNvPr id="6" name="xgb ece label"/>
          <p:cNvSpPr txBox="1"/>
          <p:nvPr/>
        </p:nvSpPr>
        <p:spPr>
          <a:xfrm>
            <a:off x="7909560" y="2061972"/>
            <a:ext cx="3502152" cy="525780"/>
          </a:xfrm>
          <a:prstGeom prst="rect">
            <a:avLst/>
          </a:prstGeom>
          <a:noFill/>
          <a:ln/>
        </p:spPr>
        <p:txBody>
          <a:bodyPr wrap="square" lIns="0" tIns="0" rIns="0" bIns="0" rtlCol="0" anchor="t"/>
          <a:lstStyle/>
          <a:p>
            <a:pPr indent="0" marL="0">
              <a:buNone/>
            </a:pPr>
            <a:r>
              <a:rPr lang="en-US" sz="1400" b="1" dirty="0">
                <a:solidFill>
                  <a:schemeClr val="tx1"/>
                </a:solidFill>
              </a:rPr>
              <a:t>XGBoost ECE (expert masses)</a:t>
            </a:r>
            <a:endParaRPr lang="en-US" sz="1400" dirty="0"/>
          </a:p>
          <a:p>
            <a:pPr indent="0" marL="0">
              <a:buNone/>
            </a:pPr>
            <a:r>
              <a:rPr lang="en-US" sz="1400" dirty="0">
                <a:solidFill>
                  <a:schemeClr val="tx1"/>
                </a:solidFill>
              </a:rPr>
              <a:t>On the diagonal, no fix needed</a:t>
            </a:r>
            <a:endParaRPr lang="en-US" sz="1400" dirty="0"/>
          </a:p>
        </p:txBody>
      </p:sp>
      <p:sp>
        <p:nvSpPr>
          <p:cNvPr id="7" name="lr ece card"/>
          <p:cNvSpPr/>
          <p:nvPr/>
        </p:nvSpPr>
        <p:spPr>
          <a:xfrm>
            <a:off x="7680960" y="2852928"/>
            <a:ext cx="3959352" cy="1417320"/>
          </a:xfrm>
          <a:prstGeom prst="roundRect">
            <a:avLst>
              <a:gd name="adj" fmla="val 7742"/>
            </a:avLst>
          </a:prstGeom>
          <a:solidFill>
            <a:schemeClr val="bg2"/>
          </a:solidFill>
          <a:ln w="12700">
            <a:solidFill>
              <a:schemeClr val="bg2"/>
            </a:solidFill>
            <a:prstDash val="solid"/>
          </a:ln>
        </p:spPr>
      </p:sp>
      <p:sp>
        <p:nvSpPr>
          <p:cNvPr id="8" name="lr ece value"/>
          <p:cNvSpPr txBox="1"/>
          <p:nvPr/>
        </p:nvSpPr>
        <p:spPr>
          <a:xfrm>
            <a:off x="7909560" y="2962656"/>
            <a:ext cx="3502152" cy="680314"/>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0.048 → 0.048</a:t>
            </a:r>
            <a:endParaRPr lang="en-US" sz="3200" dirty="0"/>
          </a:p>
        </p:txBody>
      </p:sp>
      <p:sp>
        <p:nvSpPr>
          <p:cNvPr id="9" name="lr ece label"/>
          <p:cNvSpPr txBox="1"/>
          <p:nvPr/>
        </p:nvSpPr>
        <p:spPr>
          <a:xfrm>
            <a:off x="7909560" y="3634740"/>
            <a:ext cx="3502152" cy="525780"/>
          </a:xfrm>
          <a:prstGeom prst="rect">
            <a:avLst/>
          </a:prstGeom>
          <a:noFill/>
          <a:ln/>
        </p:spPr>
        <p:txBody>
          <a:bodyPr wrap="square" lIns="0" tIns="0" rIns="0" bIns="0" rtlCol="0" anchor="t"/>
          <a:lstStyle/>
          <a:p>
            <a:pPr indent="0" marL="0">
              <a:buNone/>
            </a:pPr>
            <a:r>
              <a:rPr lang="en-US" sz="1400" b="1" dirty="0">
                <a:solidFill>
                  <a:schemeClr val="tx1"/>
                </a:solidFill>
              </a:rPr>
              <a:t>LogReg ECE: raw → Platt</a:t>
            </a:r>
            <a:endParaRPr lang="en-US" sz="1400" dirty="0"/>
          </a:p>
          <a:p>
            <a:pPr indent="0" marL="0">
              <a:buNone/>
            </a:pPr>
            <a:r>
              <a:rPr lang="en-US" sz="1400" dirty="0">
                <a:solidFill>
                  <a:schemeClr val="tx1"/>
                </a:solidFill>
              </a:rPr>
              <a:t>Platt only stretches; can't fix a bent curve</a:t>
            </a:r>
            <a:endParaRPr lang="en-US" sz="1400" dirty="0"/>
          </a:p>
        </p:txBody>
      </p:sp>
      <p:sp>
        <p:nvSpPr>
          <p:cNvPr id="10" name="iso card"/>
          <p:cNvSpPr/>
          <p:nvPr/>
        </p:nvSpPr>
        <p:spPr>
          <a:xfrm>
            <a:off x="7680960" y="4425696"/>
            <a:ext cx="3959352" cy="1417320"/>
          </a:xfrm>
          <a:prstGeom prst="roundRect">
            <a:avLst>
              <a:gd name="adj" fmla="val 7742"/>
            </a:avLst>
          </a:prstGeom>
          <a:solidFill>
            <a:schemeClr val="bg2"/>
          </a:solidFill>
          <a:ln w="12700">
            <a:solidFill>
              <a:schemeClr val="bg2"/>
            </a:solidFill>
            <a:prstDash val="solid"/>
          </a:ln>
        </p:spPr>
      </p:sp>
      <p:sp>
        <p:nvSpPr>
          <p:cNvPr id="11" name="iso value"/>
          <p:cNvSpPr txBox="1"/>
          <p:nvPr/>
        </p:nvSpPr>
        <p:spPr>
          <a:xfrm>
            <a:off x="7909560" y="4535424"/>
            <a:ext cx="3502152" cy="680314"/>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0.006</a:t>
            </a:r>
            <a:endParaRPr lang="en-US" sz="3200" dirty="0"/>
          </a:p>
        </p:txBody>
      </p:sp>
      <p:sp>
        <p:nvSpPr>
          <p:cNvPr id="12" name="iso label"/>
          <p:cNvSpPr txBox="1"/>
          <p:nvPr/>
        </p:nvSpPr>
        <p:spPr>
          <a:xfrm>
            <a:off x="7909560" y="5207508"/>
            <a:ext cx="3502152" cy="525780"/>
          </a:xfrm>
          <a:prstGeom prst="rect">
            <a:avLst/>
          </a:prstGeom>
          <a:noFill/>
          <a:ln/>
        </p:spPr>
        <p:txBody>
          <a:bodyPr wrap="square" lIns="0" tIns="0" rIns="0" bIns="0" rtlCol="0" anchor="t"/>
          <a:lstStyle/>
          <a:p>
            <a:pPr indent="0" marL="0">
              <a:buNone/>
            </a:pPr>
            <a:r>
              <a:rPr lang="en-US" sz="1400" b="1" dirty="0">
                <a:solidFill>
                  <a:schemeClr val="tx1"/>
                </a:solidFill>
              </a:rPr>
              <a:t>LogReg after isotonic</a:t>
            </a:r>
            <a:endParaRPr lang="en-US" sz="1400" dirty="0"/>
          </a:p>
          <a:p>
            <a:pPr indent="0" marL="0">
              <a:buNone/>
            </a:pPr>
            <a:r>
              <a:rPr lang="en-US" sz="1400" dirty="0">
                <a:solidFill>
                  <a:schemeClr val="tx1"/>
                </a:solidFill>
              </a:rPr>
              <a:t>Any monotone shape; fit on the cal split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Seconds of compute buy 0.14+ AUC</a:t>
            </a:r>
            <a:endParaRPr lang="en-US" sz="3600" dirty="0"/>
          </a:p>
        </p:txBody>
      </p:sp>
      <p:graphicFrame>
        <p:nvGraphicFramePr>
          <p:cNvPr id="6" name="compute table"/>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2377440"/>
                <a:gridCol w="1143000"/>
                <a:gridCol w="1234440"/>
                <a:gridCol w="1234440"/>
                <a:gridCol w="960120"/>
              </a:tblGrid>
              <a:tr h="502920">
                <a:tc>
                  <a:txBody>
                    <a:bodyPr/>
                    <a:lstStyle/>
                    <a:p>
                      <a:pPr indent="0" marL="0">
                        <a:buNone/>
                      </a:pPr>
                      <a:r>
                        <a:rPr lang="en-US" sz="1400" b="1" dirty="0">
                          <a:solidFill>
                            <a:schemeClr val="bg1"/>
                          </a:solidFill>
                        </a:rPr>
                        <a:t>Features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LogReg time</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XGBoost time</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XGBoost AUC</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Gain</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chemeClr val="tx2"/>
                    </a:solidFill>
                  </a:tcPr>
                </a:tc>
              </a:tr>
              <a:tr h="502920">
                <a:tc>
                  <a:txBody>
                    <a:bodyPr/>
                    <a:lstStyle/>
                    <a:p>
                      <a:pPr algn="l" indent="0" marL="0">
                        <a:buNone/>
                      </a:pPr>
                      <a:r>
                        <a:rPr lang="en-US" sz="1400" dirty="0">
                          <a:solidFill>
                            <a:schemeClr val="tx1"/>
                          </a:solidFill>
                        </a:rPr>
                        <a:t>low · 21 raw</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0.06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5.1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0.738</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+0.142</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r>
              <a:tr h="502920">
                <a:tc>
                  <a:txBody>
                    <a:bodyPr/>
                    <a:lstStyle/>
                    <a:p>
                      <a:pPr algn="l" indent="0" marL="0">
                        <a:buNone/>
                      </a:pPr>
                      <a:r>
                        <a:rPr lang="en-US" sz="1400" dirty="0">
                          <a:solidFill>
                            <a:schemeClr val="tx1"/>
                          </a:solidFill>
                        </a:rPr>
                        <a:t>geo · 40 geometric (ours)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0.12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11.6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0.801</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+0.171</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chemeClr val="tx1"/>
                          </a:solidFill>
                        </a:rPr>
                        <a:t>high · 7 expert masses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0.04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1.5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0.787</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c>
                  <a:txBody>
                    <a:bodyPr/>
                    <a:lstStyle/>
                    <a:p>
                      <a:pPr algn="ctr" indent="0" marL="0">
                        <a:buNone/>
                      </a:pPr>
                      <a:r>
                        <a:rPr lang="en-US" sz="1400" dirty="0">
                          <a:solidFill>
                            <a:schemeClr val="tx1"/>
                          </a:solidFill>
                        </a:rPr>
                        <a:t>+0.142</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EEF2F7"/>
                    </a:solidFill>
                  </a:tcPr>
                </a:tc>
              </a:tr>
              <a:tr h="502920">
                <a:tc>
                  <a:txBody>
                    <a:bodyPr/>
                    <a:lstStyle/>
                    <a:p>
                      <a:pPr algn="l" indent="0" marL="0">
                        <a:buNone/>
                      </a:pPr>
                      <a:r>
                        <a:rPr lang="en-US" sz="1400" dirty="0">
                          <a:solidFill>
                            <a:schemeClr val="tx1"/>
                          </a:solidFill>
                        </a:rPr>
                        <a:t>all · paper's 28</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dirty="0">
                          <a:solidFill>
                            <a:schemeClr val="tx1"/>
                          </a:solidFill>
                        </a:rPr>
                        <a:t>0.09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dirty="0">
                          <a:solidFill>
                            <a:schemeClr val="tx1"/>
                          </a:solidFill>
                        </a:rPr>
                        <a:t>4.8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b="1" dirty="0">
                          <a:solidFill>
                            <a:schemeClr val="tx1"/>
                          </a:solidFill>
                        </a:rPr>
                        <a:t>0.823</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dirty="0">
                          <a:solidFill>
                            <a:schemeClr val="tx1"/>
                          </a:solidFill>
                        </a:rPr>
                        <a:t>+0.139</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r>
              <a:tr h="502920">
                <a:tc>
                  <a:txBody>
                    <a:bodyPr/>
                    <a:lstStyle/>
                    <a:p>
                      <a:pPr algn="l" indent="0" marL="0">
                        <a:buNone/>
                      </a:pPr>
                      <a:r>
                        <a:rPr lang="en-US" sz="1400" dirty="0">
                          <a:solidFill>
                            <a:schemeClr val="tx1"/>
                          </a:solidFill>
                        </a:rPr>
                        <a:t>geo + high · 47</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dirty="0">
                          <a:solidFill>
                            <a:schemeClr val="tx1"/>
                          </a:solidFill>
                        </a:rPr>
                        <a:t>0.17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dirty="0">
                          <a:solidFill>
                            <a:schemeClr val="tx1"/>
                          </a:solidFill>
                        </a:rPr>
                        <a:t>10.4 s</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b="1" dirty="0">
                          <a:solidFill>
                            <a:schemeClr val="tx1"/>
                          </a:solidFill>
                        </a:rPr>
                        <a:t>0.838</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c>
                  <a:txBody>
                    <a:bodyPr/>
                    <a:lstStyle/>
                    <a:p>
                      <a:pPr algn="ctr" indent="0" marL="0">
                        <a:buNone/>
                      </a:pPr>
                      <a:r>
                        <a:rPr lang="en-US" sz="1400" dirty="0">
                          <a:solidFill>
                            <a:schemeClr val="tx1"/>
                          </a:solidFill>
                        </a:rPr>
                        <a:t>+0.146</a:t>
                      </a:r>
                      <a:endParaRPr lang="en-US" sz="1400" dirty="0"/>
                    </a:p>
                  </a:txBody>
                  <a:tcPr marL="91440" marR="91440" marT="45720" marB="45720" anchor="ctr">
                    <a:lnL w="6350" cap="flat" cmpd="sng" algn="ctr">
                      <a:solidFill>
                        <a:srgbClr val="D9DEE6"/>
                      </a:solidFill>
                      <a:prstDash val="solid"/>
                      <a:round/>
                      <a:headEnd type="none" w="med" len="med"/>
                      <a:tailEnd type="none" w="med" len="med"/>
                    </a:lnL>
                    <a:lnR w="6350" cap="flat" cmpd="sng" algn="ctr">
                      <a:solidFill>
                        <a:srgbClr val="D9DEE6"/>
                      </a:solidFill>
                      <a:prstDash val="solid"/>
                      <a:round/>
                      <a:headEnd type="none" w="med" len="med"/>
                      <a:tailEnd type="none" w="med" len="med"/>
                    </a:lnR>
                    <a:lnT w="6350" cap="flat" cmpd="sng" algn="ctr">
                      <a:solidFill>
                        <a:srgbClr val="D9DEE6"/>
                      </a:solidFill>
                      <a:prstDash val="solid"/>
                      <a:round/>
                      <a:headEnd type="none" w="med" len="med"/>
                      <a:tailEnd type="none" w="med" len="med"/>
                    </a:lnT>
                    <a:lnB w="6350" cap="flat" cmpd="sng" algn="ctr">
                      <a:solidFill>
                        <a:srgbClr val="D9DEE6"/>
                      </a:solidFill>
                      <a:prstDash val="solid"/>
                      <a:round/>
                      <a:headEnd type="none" w="med" len="med"/>
                      <a:tailEnd type="none" w="med" len="med"/>
                    </a:lnB>
                    <a:solidFill>
                      <a:srgbClr val="FCE3D7"/>
                    </a:solidFill>
                  </a:tcPr>
                </a:tc>
              </a:tr>
            </a:tbl>
          </a:graphicData>
        </a:graphic>
      </p:graphicFrame>
      <p:sp>
        <p:nvSpPr>
          <p:cNvPr id="4" name="compute caption"/>
          <p:cNvSpPr txBox="1"/>
          <p:nvPr/>
        </p:nvSpPr>
        <p:spPr>
          <a:xfrm>
            <a:off x="548640" y="4572000"/>
            <a:ext cx="6949440" cy="320040"/>
          </a:xfrm>
          <a:prstGeom prst="rect">
            <a:avLst/>
          </a:prstGeom>
          <a:noFill/>
          <a:ln/>
        </p:spPr>
        <p:txBody>
          <a:bodyPr wrap="square" lIns="0" tIns="0" rIns="0" bIns="0" rtlCol="0" anchor="ctr"/>
          <a:lstStyle/>
          <a:p>
            <a:pPr indent="0" marL="0">
              <a:buNone/>
            </a:pPr>
            <a:r>
              <a:rPr lang="en-US" sz="1100" i="1" dirty="0">
                <a:solidFill>
                  <a:schemeClr val="accent6"/>
                </a:solidFill>
              </a:rPr>
              <a:t>Training time on 200k events (Apple M3, XGBoost on all CPU cores); mean of 5 seeds. Highlighted: best value and best overall.</a:t>
            </a:r>
            <a:endParaRPr lang="en-US" sz="1100" dirty="0"/>
          </a:p>
        </p:txBody>
      </p:sp>
      <p:sp>
        <p:nvSpPr>
          <p:cNvPr id="5" name="lr time card"/>
          <p:cNvSpPr/>
          <p:nvPr/>
        </p:nvSpPr>
        <p:spPr>
          <a:xfrm>
            <a:off x="7863840" y="1325880"/>
            <a:ext cx="3776472" cy="1371600"/>
          </a:xfrm>
          <a:prstGeom prst="roundRect">
            <a:avLst>
              <a:gd name="adj" fmla="val 8000"/>
            </a:avLst>
          </a:prstGeom>
          <a:solidFill>
            <a:schemeClr val="bg2"/>
          </a:solidFill>
          <a:ln w="12700">
            <a:solidFill>
              <a:schemeClr val="bg2"/>
            </a:solidFill>
            <a:prstDash val="solid"/>
          </a:ln>
        </p:spPr>
      </p:sp>
      <p:sp>
        <p:nvSpPr>
          <p:cNvPr id="6" name="lr time value"/>
          <p:cNvSpPr txBox="1"/>
          <p:nvPr/>
        </p:nvSpPr>
        <p:spPr>
          <a:xfrm>
            <a:off x="8092440" y="1435608"/>
            <a:ext cx="3319272" cy="658368"/>
          </a:xfrm>
          <a:prstGeom prst="rect">
            <a:avLst/>
          </a:prstGeom>
          <a:noFill/>
          <a:ln/>
        </p:spPr>
        <p:txBody>
          <a:bodyPr wrap="square" lIns="0" tIns="0" rIns="0" bIns="0" rtlCol="0" anchor="b"/>
          <a:lstStyle/>
          <a:p>
            <a:pPr indent="0" marL="0">
              <a:buNone/>
            </a:pPr>
            <a:r>
              <a:rPr lang="en-US" sz="3200" b="1" dirty="0">
                <a:solidFill>
                  <a:schemeClr val="accent2"/>
                </a:solidFill>
                <a:latin typeface="Cambria" pitchFamily="34" charset="0"/>
                <a:ea typeface="Cambria" pitchFamily="34" charset="-122"/>
                <a:cs typeface="Cambria" pitchFamily="34" charset="-120"/>
              </a:rPr>
              <a:t>&lt; 0.2 s</a:t>
            </a:r>
            <a:endParaRPr lang="en-US" sz="3200" dirty="0"/>
          </a:p>
        </p:txBody>
      </p:sp>
      <p:sp>
        <p:nvSpPr>
          <p:cNvPr id="7" name="lr time label"/>
          <p:cNvSpPr txBox="1"/>
          <p:nvPr/>
        </p:nvSpPr>
        <p:spPr>
          <a:xfrm>
            <a:off x="8092440" y="2084832"/>
            <a:ext cx="3319272" cy="502920"/>
          </a:xfrm>
          <a:prstGeom prst="rect">
            <a:avLst/>
          </a:prstGeom>
          <a:noFill/>
          <a:ln/>
        </p:spPr>
        <p:txBody>
          <a:bodyPr wrap="square" lIns="0" tIns="0" rIns="0" bIns="0" rtlCol="0" anchor="t"/>
          <a:lstStyle/>
          <a:p>
            <a:pPr indent="0" marL="0">
              <a:buNone/>
            </a:pPr>
            <a:r>
              <a:rPr lang="en-US" sz="1400" b="1" dirty="0">
                <a:solidFill>
                  <a:schemeClr val="tx1"/>
                </a:solidFill>
              </a:rPr>
              <a:t>Logistic regression</a:t>
            </a:r>
            <a:endParaRPr lang="en-US" sz="1400" dirty="0"/>
          </a:p>
          <a:p>
            <a:pPr indent="0" marL="0">
              <a:buNone/>
            </a:pPr>
            <a:r>
              <a:rPr lang="en-US" sz="1400" dirty="0">
                <a:solidFill>
                  <a:schemeClr val="tx1"/>
                </a:solidFill>
              </a:rPr>
              <a:t>any feature set</a:t>
            </a:r>
            <a:endParaRPr lang="en-US" sz="1400" dirty="0"/>
          </a:p>
        </p:txBody>
      </p:sp>
      <p:sp>
        <p:nvSpPr>
          <p:cNvPr id="8" name="xgb time card"/>
          <p:cNvSpPr/>
          <p:nvPr/>
        </p:nvSpPr>
        <p:spPr>
          <a:xfrm>
            <a:off x="7863840" y="2834640"/>
            <a:ext cx="3776472" cy="1371600"/>
          </a:xfrm>
          <a:prstGeom prst="roundRect">
            <a:avLst>
              <a:gd name="adj" fmla="val 8000"/>
            </a:avLst>
          </a:prstGeom>
          <a:solidFill>
            <a:schemeClr val="bg2"/>
          </a:solidFill>
          <a:ln w="12700">
            <a:solidFill>
              <a:schemeClr val="bg2"/>
            </a:solidFill>
            <a:prstDash val="solid"/>
          </a:ln>
        </p:spPr>
      </p:sp>
      <p:sp>
        <p:nvSpPr>
          <p:cNvPr id="9" name="xgb time value"/>
          <p:cNvSpPr txBox="1"/>
          <p:nvPr/>
        </p:nvSpPr>
        <p:spPr>
          <a:xfrm>
            <a:off x="8092440" y="2944368"/>
            <a:ext cx="3319272" cy="658368"/>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1.5–11.6 s</a:t>
            </a:r>
            <a:endParaRPr lang="en-US" sz="3200" dirty="0"/>
          </a:p>
        </p:txBody>
      </p:sp>
      <p:sp>
        <p:nvSpPr>
          <p:cNvPr id="10" name="xgb time label"/>
          <p:cNvSpPr txBox="1"/>
          <p:nvPr/>
        </p:nvSpPr>
        <p:spPr>
          <a:xfrm>
            <a:off x="8092440" y="3593592"/>
            <a:ext cx="3319272" cy="502920"/>
          </a:xfrm>
          <a:prstGeom prst="rect">
            <a:avLst/>
          </a:prstGeom>
          <a:noFill/>
          <a:ln/>
        </p:spPr>
        <p:txBody>
          <a:bodyPr wrap="square" lIns="0" tIns="0" rIns="0" bIns="0" rtlCol="0" anchor="t"/>
          <a:lstStyle/>
          <a:p>
            <a:pPr indent="0" marL="0">
              <a:buNone/>
            </a:pPr>
            <a:r>
              <a:rPr lang="en-US" sz="1400" b="1" dirty="0">
                <a:solidFill>
                  <a:schemeClr val="tx1"/>
                </a:solidFill>
              </a:rPr>
              <a:t>Tuned XGBoost</a:t>
            </a:r>
            <a:endParaRPr lang="en-US" sz="1400" dirty="0"/>
          </a:p>
          <a:p>
            <a:pPr indent="0" marL="0">
              <a:buNone/>
            </a:pPr>
            <a:r>
              <a:rPr lang="en-US" sz="1400" dirty="0">
                <a:solidFill>
                  <a:schemeClr val="tx1"/>
                </a:solidFill>
              </a:rPr>
              <a:t>deeper trees, more features</a:t>
            </a:r>
            <a:endParaRPr lang="en-US" sz="1400" dirty="0"/>
          </a:p>
        </p:txBody>
      </p:sp>
      <p:sp>
        <p:nvSpPr>
          <p:cNvPr id="11" name="value card"/>
          <p:cNvSpPr/>
          <p:nvPr/>
        </p:nvSpPr>
        <p:spPr>
          <a:xfrm>
            <a:off x="7863840" y="4343400"/>
            <a:ext cx="3776472" cy="1371600"/>
          </a:xfrm>
          <a:prstGeom prst="roundRect">
            <a:avLst>
              <a:gd name="adj" fmla="val 8000"/>
            </a:avLst>
          </a:prstGeom>
          <a:solidFill>
            <a:schemeClr val="bg2"/>
          </a:solidFill>
          <a:ln w="12700">
            <a:solidFill>
              <a:schemeClr val="bg2"/>
            </a:solidFill>
            <a:prstDash val="solid"/>
          </a:ln>
        </p:spPr>
      </p:sp>
      <p:sp>
        <p:nvSpPr>
          <p:cNvPr id="12" name="value value"/>
          <p:cNvSpPr txBox="1"/>
          <p:nvPr/>
        </p:nvSpPr>
        <p:spPr>
          <a:xfrm>
            <a:off x="8092440" y="4453128"/>
            <a:ext cx="3319272" cy="658368"/>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4.8 s → 0.823</a:t>
            </a:r>
            <a:endParaRPr lang="en-US" sz="3200" dirty="0"/>
          </a:p>
        </p:txBody>
      </p:sp>
      <p:sp>
        <p:nvSpPr>
          <p:cNvPr id="13" name="value label"/>
          <p:cNvSpPr txBox="1"/>
          <p:nvPr/>
        </p:nvSpPr>
        <p:spPr>
          <a:xfrm>
            <a:off x="8092440" y="5102352"/>
            <a:ext cx="3319272" cy="502920"/>
          </a:xfrm>
          <a:prstGeom prst="rect">
            <a:avLst/>
          </a:prstGeom>
          <a:noFill/>
          <a:ln/>
        </p:spPr>
        <p:txBody>
          <a:bodyPr wrap="square" lIns="0" tIns="0" rIns="0" bIns="0" rtlCol="0" anchor="t"/>
          <a:lstStyle/>
          <a:p>
            <a:pPr indent="0" marL="0">
              <a:buNone/>
            </a:pPr>
            <a:r>
              <a:rPr lang="en-US" sz="1400" b="1" dirty="0">
                <a:solidFill>
                  <a:schemeClr val="tx1"/>
                </a:solidFill>
              </a:rPr>
              <a:t>Best value</a:t>
            </a:r>
            <a:endParaRPr lang="en-US" sz="1400" dirty="0"/>
          </a:p>
          <a:p>
            <a:pPr indent="0" marL="0">
              <a:buNone/>
            </a:pPr>
            <a:r>
              <a:rPr lang="en-US" sz="1400" dirty="0">
                <a:solidFill>
                  <a:schemeClr val="tx1"/>
                </a:solidFill>
              </a:rPr>
              <a:t>XGBoost on the paper's features</a:t>
            </a:r>
            <a:endParaRPr lang="en-US" sz="1400" dirty="0"/>
          </a:p>
        </p:txBody>
      </p:sp>
      <p:sp>
        <p:nvSpPr>
          <p:cNvPr id="14" name="best overall line"/>
          <p:cNvSpPr txBox="1"/>
          <p:nvPr/>
        </p:nvSpPr>
        <p:spPr>
          <a:xfrm>
            <a:off x="548640" y="5120640"/>
            <a:ext cx="6949440" cy="457200"/>
          </a:xfrm>
          <a:prstGeom prst="rect">
            <a:avLst/>
          </a:prstGeom>
          <a:noFill/>
          <a:ln/>
        </p:spPr>
        <p:txBody>
          <a:bodyPr wrap="square" lIns="0" tIns="0" rIns="0" bIns="0" rtlCol="0" anchor="ctr"/>
          <a:lstStyle/>
          <a:p>
            <a:pPr indent="0" marL="0">
              <a:buNone/>
            </a:pPr>
            <a:r>
              <a:rPr lang="en-US" sz="1600" b="1" dirty="0">
                <a:solidFill>
                  <a:schemeClr val="tx2"/>
                </a:solidFill>
              </a:rPr>
              <a:t>Best overall: XGBoost on geo + high, 0.838 in about 10 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Backup: calibration before and after</a:t>
            </a:r>
            <a:endParaRPr lang="en-US" sz="3600" dirty="0"/>
          </a:p>
        </p:txBody>
      </p:sp>
      <p:graphicFrame>
        <p:nvGraphicFramePr>
          <p:cNvPr id="3" name="ECE before after chart" descr=""/>
          <p:cNvGraphicFramePr/>
          <p:nvPr/>
        </p:nvGraphicFramePr>
        <p:xfrm>
          <a:off x="548640" y="1234440"/>
          <a:ext cx="7498080" cy="4983480"/>
        </p:xfrm>
        <a:graphic xmlns:a="http://schemas.openxmlformats.org/drawingml/2006/main">
          <a:graphicData uri="http://schemas.openxmlformats.org/drawingml/2006/chart">
            <c:chart xmlns:c="http://schemas.openxmlformats.org/drawingml/2006/chart" r:id="rId1"/>
          </a:graphicData>
        </a:graphic>
      </p:graphicFrame>
      <p:sp>
        <p:nvSpPr>
          <p:cNvPr id="4" name="calibration notes"/>
          <p:cNvSpPr txBox="1"/>
          <p:nvPr/>
        </p:nvSpPr>
        <p:spPr>
          <a:xfrm>
            <a:off x="8321040" y="1371600"/>
            <a:ext cx="3319272" cy="4572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Calibrators are fit on the separate cal split (25k events), never on val or test</a:t>
            </a:r>
            <a:endParaRPr lang="en-US" sz="1400" dirty="0"/>
          </a:p>
          <a:p>
            <a:pPr marL="342900" indent="-342900">
              <a:spcAft>
                <a:spcPts val="1000"/>
              </a:spcAft>
              <a:buSzPct val="100000"/>
              <a:buChar char="•"/>
            </a:pPr>
            <a:r>
              <a:rPr lang="en-US" sz="1400" dirty="0">
                <a:solidFill>
                  <a:schemeClr val="tx1"/>
                </a:solidFill>
              </a:rPr>
              <a:t>Platt: σ(a·logit p + b). Monotone, AUC unchanged, can only stretch the curve</a:t>
            </a:r>
            <a:endParaRPr lang="en-US" sz="1400" dirty="0"/>
          </a:p>
          <a:p>
            <a:pPr marL="342900" indent="-342900">
              <a:spcAft>
                <a:spcPts val="1000"/>
              </a:spcAft>
              <a:buSzPct val="100000"/>
              <a:buChar char="•"/>
            </a:pPr>
            <a:r>
              <a:rPr lang="en-US" sz="1400" dirty="0">
                <a:solidFill>
                  <a:schemeClr val="tx1"/>
                </a:solidFill>
              </a:rPr>
              <a:t>Isotonic: any monotone step function. Fixes LogReg's bent curve</a:t>
            </a:r>
            <a:endParaRPr lang="en-US" sz="1400" dirty="0"/>
          </a:p>
          <a:p>
            <a:pPr marL="342900" indent="-342900">
              <a:spcAft>
                <a:spcPts val="1000"/>
              </a:spcAft>
              <a:buSzPct val="100000"/>
              <a:buChar char="•"/>
            </a:pPr>
            <a:r>
              <a:rPr lang="en-US" sz="1400" dirty="0">
                <a:solidFill>
                  <a:schemeClr val="tx1"/>
                </a:solidFill>
              </a:rPr>
              <a:t>XGBoost is calibrated already: log-loss objective and early stopping on log loss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HIGGS ML">
  <a:themeElements>
    <a:clrScheme name="HIGGS ML">
      <a:dk1>
        <a:srgbClr val="1B2333"/>
      </a:dk1>
      <a:lt1>
        <a:srgbClr val="FFFFFF"/>
      </a:lt1>
      <a:dk2>
        <a:srgbClr val="16324F"/>
      </a:dk2>
      <a:lt2>
        <a:srgbClr val="EEF2F7"/>
      </a:lt2>
      <a:accent1>
        <a:srgbClr val="EB6834"/>
      </a:accent1>
      <a:accent2>
        <a:srgbClr val="2A78D6"/>
      </a:accent2>
      <a:accent3>
        <a:srgbClr val="008300"/>
      </a:accent3>
      <a:accent4>
        <a:srgbClr val="6250D6"/>
      </a:accent4>
      <a:accent5>
        <a:srgbClr val="E34948"/>
      </a:accent5>
      <a:accent6>
        <a:srgbClr val="8A94A6"/>
      </a:accent6>
      <a:hlink>
        <a:srgbClr val="2A78D6"/>
      </a:hlink>
      <a:folHlink>
        <a:srgbClr val="6250D6"/>
      </a:folHlink>
    </a:clrScheme>
    <a:fontScheme name="HIGGS M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Application and Calibration - HIGGS Phase 1</dc:title>
  <dc:subject>PptxGenJS Presentation</dc:subject>
  <dc:creator>Ananya Soni</dc:creator>
  <cp:lastModifiedBy>Ananya Soni</cp:lastModifiedBy>
  <cp:revision>1</cp:revision>
  <dcterms:created xsi:type="dcterms:W3CDTF">2026-10-28T10:22:30Z</dcterms:created>
  <dcterms:modified xsi:type="dcterms:W3CDTF">2026-10-28T10:22:30Z</dcterms:modified>
</cp:coreProperties>
</file>